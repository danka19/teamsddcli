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f055e29bc1341f7" /><Relationship Type="http://schemas.openxmlformats.org/officeDocument/2006/relationships/extended-properties" Target="/docProps/app.xml" Id="R5fcea2d315d641ae" /><Relationship Type="http://schemas.openxmlformats.org/officeDocument/2006/relationships/officeDocument" Target="/ppt/presentation.xml" Id="R35000b1b480c46f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9ea8449c60e4fa0"/>
  </p:sldMasterIdLst>
  <p:notesMasterIdLst>
    <p:notesMasterId xmlns:r="http://schemas.openxmlformats.org/officeDocument/2006/relationships" r:id="R195616fbcbcc4ec9"/>
  </p:notesMasterIdLst>
  <p:sldIdLst>
    <p:sldId xmlns:r="http://schemas.openxmlformats.org/officeDocument/2006/relationships" id="256" r:id="R0e6e030085af4858"/>
    <p:sldId xmlns:r="http://schemas.openxmlformats.org/officeDocument/2006/relationships" id="257" r:id="Re1fbb04603dc4bae"/>
    <p:sldId xmlns:r="http://schemas.openxmlformats.org/officeDocument/2006/relationships" id="258" r:id="R6461d4f19d394d5d"/>
    <p:sldId xmlns:r="http://schemas.openxmlformats.org/officeDocument/2006/relationships" id="259" r:id="R71ece9554ddc4e40"/>
    <p:sldId xmlns:r="http://schemas.openxmlformats.org/officeDocument/2006/relationships" id="260" r:id="R98eafe18eb944c82"/>
    <p:sldId xmlns:r="http://schemas.openxmlformats.org/officeDocument/2006/relationships" id="261" r:id="R83e6067d4bd74568"/>
    <p:sldId xmlns:r="http://schemas.openxmlformats.org/officeDocument/2006/relationships" id="262" r:id="Rfdefca2339794799"/>
    <p:sldId xmlns:r="http://schemas.openxmlformats.org/officeDocument/2006/relationships" id="263" r:id="R0783e4a1809b420a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8e60c9720034cd9" /><Relationship Type="http://schemas.openxmlformats.org/officeDocument/2006/relationships/slideMaster" Target="/ppt/slideMasters/slideMaster1.xml" Id="R99ea8449c60e4fa0" /><Relationship Type="http://schemas.openxmlformats.org/officeDocument/2006/relationships/notesMaster" Target="/ppt/notesMasters/notesMaster1.xml" Id="R195616fbcbcc4ec9" /><Relationship Type="http://schemas.openxmlformats.org/officeDocument/2006/relationships/presProps" Target="/ppt/presProps.xml" Id="Rd5099518611d4640" /><Relationship Type="http://schemas.openxmlformats.org/officeDocument/2006/relationships/tableStyles" Target="/ppt/tableStyles.xml" Id="R9015f35fd7184c4b" /><Relationship Type="http://schemas.openxmlformats.org/officeDocument/2006/relationships/slide" Target="/ppt/slides/slide1.xml" Id="R0e6e030085af4858" /><Relationship Type="http://schemas.openxmlformats.org/officeDocument/2006/relationships/slide" Target="/ppt/slides/slide2.xml" Id="Re1fbb04603dc4bae" /><Relationship Type="http://schemas.openxmlformats.org/officeDocument/2006/relationships/slide" Target="/ppt/slides/slide3.xml" Id="R6461d4f19d394d5d" /><Relationship Type="http://schemas.openxmlformats.org/officeDocument/2006/relationships/slide" Target="/ppt/slides/slide4.xml" Id="R71ece9554ddc4e40" /><Relationship Type="http://schemas.openxmlformats.org/officeDocument/2006/relationships/slide" Target="/ppt/slides/slide5.xml" Id="R98eafe18eb944c82" /><Relationship Type="http://schemas.openxmlformats.org/officeDocument/2006/relationships/slide" Target="/ppt/slides/slide6.xml" Id="R83e6067d4bd74568" /><Relationship Type="http://schemas.openxmlformats.org/officeDocument/2006/relationships/slide" Target="/ppt/slides/slide7.xml" Id="Rfdefca2339794799" /><Relationship Type="http://schemas.openxmlformats.org/officeDocument/2006/relationships/slide" Target="/ppt/slides/slide8.xml" Id="R0783e4a1809b420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70c419de9ce441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882111f89d14a38" /><Relationship Type="http://schemas.openxmlformats.org/officeDocument/2006/relationships/notesMaster" Target="/ppt/notesMasters/notesMaster1.xml" Id="Rfd897ca4dd9f4d0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df4ab12d163409d" /><Relationship Type="http://schemas.openxmlformats.org/officeDocument/2006/relationships/notesMaster" Target="/ppt/notesMasters/notesMaster1.xml" Id="R12a5b042fbd6445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0d65048b43b474f" /><Relationship Type="http://schemas.openxmlformats.org/officeDocument/2006/relationships/notesMaster" Target="/ppt/notesMasters/notesMaster1.xml" Id="Rf02e2ebfb955483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ce072b5ee864e98" /><Relationship Type="http://schemas.openxmlformats.org/officeDocument/2006/relationships/notesMaster" Target="/ppt/notesMasters/notesMaster1.xml" Id="R37ea026af8b14cf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2c14618c4c14ac6" /><Relationship Type="http://schemas.openxmlformats.org/officeDocument/2006/relationships/notesMaster" Target="/ppt/notesMasters/notesMaster1.xml" Id="R96e38508d37f479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66f00519f4b4f10" /><Relationship Type="http://schemas.openxmlformats.org/officeDocument/2006/relationships/notesMaster" Target="/ppt/notesMasters/notesMaster1.xml" Id="R2390412f0fe84df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cfca8b800f746df" /><Relationship Type="http://schemas.openxmlformats.org/officeDocument/2006/relationships/notesMaster" Target="/ppt/notesMasters/notesMaster1.xml" Id="R6cb8306e5e0d420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64426c142d04b90" /><Relationship Type="http://schemas.openxmlformats.org/officeDocument/2006/relationships/notesMaster" Target="/ppt/notesMasters/notesMaster1.xml" Id="Radf2ef5876e04f6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b014dd85ca04f9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bdb51e48fe84caa" /><Relationship Type="http://schemas.openxmlformats.org/officeDocument/2006/relationships/slideLayout" Target="/ppt/slideLayouts/slideLayout1.xml" Id="R73a6538f2ab5468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3a6538f2ab5468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fae3efd87d465d" /><Relationship Type="http://schemas.openxmlformats.org/officeDocument/2006/relationships/notesSlide" Target="/ppt/notesSlides/notesSlide1.xml" Id="R08686450e2b8454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799ab7c0d748bd" /><Relationship Type="http://schemas.openxmlformats.org/officeDocument/2006/relationships/notesSlide" Target="/ppt/notesSlides/notesSlide2.xml" Id="Ra9e03c28664e454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d86f5d53d04d3c" /><Relationship Type="http://schemas.openxmlformats.org/officeDocument/2006/relationships/notesSlide" Target="/ppt/notesSlides/notesSlide3.xml" Id="R8505414664c94cb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30f5fad6294339" /><Relationship Type="http://schemas.openxmlformats.org/officeDocument/2006/relationships/notesSlide" Target="/ppt/notesSlides/notesSlide4.xml" Id="Rdaf20f6dc1bc4cf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8992bd932a40cf" /><Relationship Type="http://schemas.openxmlformats.org/officeDocument/2006/relationships/notesSlide" Target="/ppt/notesSlides/notesSlide5.xml" Id="R4ad36182d461480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345d94ce1c48cc" /><Relationship Type="http://schemas.openxmlformats.org/officeDocument/2006/relationships/notesSlide" Target="/ppt/notesSlides/notesSlide6.xml" Id="R5a30712f6c8748c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8335d714b34649" /><Relationship Type="http://schemas.openxmlformats.org/officeDocument/2006/relationships/notesSlide" Target="/ppt/notesSlides/notesSlide7.xml" Id="Rd02c4625c38f43d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14c737b72645d0" /><Relationship Type="http://schemas.openxmlformats.org/officeDocument/2006/relationships/notesSlide" Target="/ppt/notesSlides/notesSlide8.xml" Id="R8634bc510f8b440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4A6E365-A5A5-4D3F-9639-D9A87836B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"/>
            <a:ext cx="8572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11827"/>
                </a:solidFill>
              </a:defRPr>
            </a:pPr>
            <a:r>
              <a:rPr sz="4050" b="1">
                <a:solidFill>
                  <a:srgbClr val="111827"/>
                </a:solidFill>
              </a:rPr>
              <a:t>Процесс разработки от требований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E888CB-53AC-42BE-8BD2-C5F14A9EC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7239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4B5563"/>
                </a:solidFill>
              </a:defRPr>
            </a:pPr>
            <a:r>
              <a:rPr sz="2025">
                <a:solidFill>
                  <a:srgbClr val="4B5563"/>
                </a:solidFill>
              </a:rPr>
              <a:t>Как связать анализ, разработку, тестирование и подтверждение результата в один понятный рабочий поток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BD0920-1B14-460A-A26B-5A3749D68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4762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C8EC99-D78E-45A7-8337-D3594A319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790950"/>
            <a:ext cx="1257300" cy="685800"/>
          </a:xfrm>
          <a:prstGeom xmlns:a="http://schemas.openxmlformats.org/drawingml/2006/main" prst="roundRect">
            <a:avLst>
              <a:gd name="adj" fmla="val 2778"/>
            </a:avLst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3A42AB-2C6F-4296-BD14-AF1AE31F4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990975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Анализ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84D57F-5AD8-40C1-A1C7-9B4424F78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4124325"/>
            <a:ext cx="6953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CA3AF"/>
          </a:solidFill>
          <a:ln xmlns:a="http://schemas.openxmlformats.org/drawingml/2006/main" w="0">
            <a:solidFill>
              <a:srgbClr val="9CA3A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4EA232-55FF-4AAF-AE42-372619B2F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625" y="3790950"/>
            <a:ext cx="1257300" cy="685800"/>
          </a:xfrm>
          <a:prstGeom xmlns:a="http://schemas.openxmlformats.org/drawingml/2006/main" prst="roundRect">
            <a:avLst>
              <a:gd name="adj" fmla="val 2778"/>
            </a:avLst>
          </a:prstGeom>
          <a:solidFill xmlns:a="http://schemas.openxmlformats.org/drawingml/2006/main">
            <a:srgbClr val="D1FAE5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D60DA5-9AA8-41CB-80FC-2A8335129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3990975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F766E"/>
                </a:solidFill>
              </a:defRPr>
            </a:pPr>
            <a:r>
              <a:rPr sz="1500" b="1">
                <a:solidFill>
                  <a:srgbClr val="0F766E"/>
                </a:solidFill>
              </a:rPr>
              <a:t>Требования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3FEFA1A-000D-46C9-B081-3826E1875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4124325"/>
            <a:ext cx="6953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CA3AF"/>
          </a:solidFill>
          <a:ln xmlns:a="http://schemas.openxmlformats.org/drawingml/2006/main" w="0">
            <a:solidFill>
              <a:srgbClr val="9CA3A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356D380-7332-4334-907F-9B0FC8BE7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790950"/>
            <a:ext cx="1257300" cy="685800"/>
          </a:xfrm>
          <a:prstGeom xmlns:a="http://schemas.openxmlformats.org/drawingml/2006/main" prst="roundRect">
            <a:avLst>
              <a:gd name="adj" fmla="val 2778"/>
            </a:avLst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9BFF43-3F77-4B6D-86B1-69CF601C6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3990975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Разработка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46177C-7A00-47D1-BD82-D3D1C1600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124325"/>
            <a:ext cx="6953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CA3AF"/>
          </a:solidFill>
          <a:ln xmlns:a="http://schemas.openxmlformats.org/drawingml/2006/main" w="0">
            <a:solidFill>
              <a:srgbClr val="9CA3A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5D8087A-FD75-4012-A4A7-719A66FEC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3790950"/>
            <a:ext cx="1257300" cy="685800"/>
          </a:xfrm>
          <a:prstGeom xmlns:a="http://schemas.openxmlformats.org/drawingml/2006/main" prst="roundRect">
            <a:avLst>
              <a:gd name="adj" fmla="val 2778"/>
            </a:avLst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D68ADF6-C164-4D93-A66F-20D42B281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3990975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Тесты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5B9CC41-F59B-4247-B7A5-BD16480D3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4124325"/>
            <a:ext cx="6953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CA3AF"/>
          </a:solidFill>
          <a:ln xmlns:a="http://schemas.openxmlformats.org/drawingml/2006/main" w="0">
            <a:solidFill>
              <a:srgbClr val="9CA3A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759BC8-1589-432E-8C54-A885D22FF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790950"/>
            <a:ext cx="1257300" cy="685800"/>
          </a:xfrm>
          <a:prstGeom xmlns:a="http://schemas.openxmlformats.org/drawingml/2006/main" prst="roundRect">
            <a:avLst>
              <a:gd name="adj" fmla="val 2778"/>
            </a:avLst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144321F-52C8-4051-8034-29077FF35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990975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Проверено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13D5A12-44AD-420C-91AC-5AABED427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721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B45309"/>
                </a:solidFill>
              </a:defRPr>
            </a:pPr>
            <a:r>
              <a:rPr sz="2100" b="1">
                <a:solidFill>
                  <a:srgbClr val="B45309"/>
                </a:solidFill>
              </a:rPr>
              <a:t>Первый результат за 1,5 месяца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845B162-EB9E-460F-8169-02E835CA0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B7280"/>
                </a:solidFill>
              </a:defRPr>
            </a:pPr>
            <a:r>
              <a:rPr sz="1125">
                <a:solidFill>
                  <a:srgbClr val="6B7280"/>
                </a:solidFill>
              </a:rPr>
              <a:t>teamSddCli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1B58A45-7393-4BF3-9CBD-4DFBAB75B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2460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>
                <a:solidFill>
                  <a:srgbClr val="6B7280"/>
                </a:solidFill>
              </a:defRPr>
            </a:pPr>
            <a:r>
              <a:rPr sz="1125">
                <a:solidFill>
                  <a:srgbClr val="6B7280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63740960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00AF9C6-4D69-440E-BD8A-3F4AF73B0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F766E"/>
                </a:solidFill>
              </a:defRPr>
            </a:pPr>
            <a:r>
              <a:rPr sz="1200" b="1">
                <a:solidFill>
                  <a:srgbClr val="0F766E"/>
                </a:solidFill>
              </a:rPr>
              <a:t>Зачем это нужно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786195-93CA-4A3A-A901-5803950A3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88582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11827"/>
                </a:solidFill>
              </a:defRPr>
            </a:pPr>
            <a:r>
              <a:rPr sz="3150" b="1">
                <a:solidFill>
                  <a:srgbClr val="111827"/>
                </a:solidFill>
              </a:rPr>
              <a:t>Проблема не в отсутствии документов, а в разрывах между ними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4BDB90-F893-49B2-9397-EEA0F6A48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D1D5DB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70A4D0-9019-40C8-9F0C-4103D4C3E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B7280"/>
                </a:solidFill>
              </a:defRPr>
            </a:pPr>
            <a:r>
              <a:rPr sz="1125">
                <a:solidFill>
                  <a:srgbClr val="6B7280"/>
                </a:solidFill>
              </a:rPr>
              <a:t>teamSddCli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FAA6C4-7FDB-4C4F-82A1-4524DBA2F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2460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>
                <a:solidFill>
                  <a:srgbClr val="6B7280"/>
                </a:solidFill>
              </a:defRPr>
            </a:pPr>
            <a:r>
              <a:rPr sz="1125">
                <a:solidFill>
                  <a:srgbClr val="6B7280"/>
                </a:solidFill>
              </a:rPr>
              <a:t>02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AFD951-BD5A-4CF7-AA58-3B51C0E15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0"/>
            <a:ext cx="4762500" cy="952500"/>
          </a:xfrm>
          <a:prstGeom xmlns:a="http://schemas.openxmlformats.org/drawingml/2006/main" prst="roundRect">
            <a:avLst>
              <a:gd name="adj" fmla="val 2000"/>
            </a:avLst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5AF6A0-83C6-47F3-ACFF-9FCE2B0E1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717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11827"/>
                </a:solidFill>
              </a:defRPr>
            </a:pPr>
            <a:r>
              <a:rPr sz="1800" b="1">
                <a:solidFill>
                  <a:srgbClr val="111827"/>
                </a:solidFill>
              </a:rPr>
              <a:t>Требования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257547-C360-4617-B777-548C3A1B9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2552700"/>
            <a:ext cx="23336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4B5563"/>
                </a:solidFill>
              </a:defRPr>
            </a:pPr>
            <a:r>
              <a:rPr sz="1500">
                <a:solidFill>
                  <a:srgbClr val="4B5563"/>
                </a:solidFill>
              </a:rPr>
              <a:t>часто живут отдельно от задач и проверок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DED1AB-B741-498E-84CF-F5C01083D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381250"/>
            <a:ext cx="4762500" cy="952500"/>
          </a:xfrm>
          <a:prstGeom xmlns:a="http://schemas.openxmlformats.org/drawingml/2006/main" prst="roundRect">
            <a:avLst>
              <a:gd name="adj" fmla="val 2000"/>
            </a:avLst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81DED49-4BA0-4496-A28F-B58775F48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5717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11827"/>
                </a:solidFill>
              </a:defRPr>
            </a:pPr>
            <a:r>
              <a:rPr sz="1800" b="1">
                <a:solidFill>
                  <a:srgbClr val="111827"/>
                </a:solidFill>
              </a:rPr>
              <a:t>Разработка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8A9B3E4-94CD-4433-B116-5E72816E2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552700"/>
            <a:ext cx="23336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4B5563"/>
                </a:solidFill>
              </a:defRPr>
            </a:pPr>
            <a:r>
              <a:rPr sz="1500">
                <a:solidFill>
                  <a:srgbClr val="4B5563"/>
                </a:solidFill>
              </a:rPr>
              <a:t>получает контекст через пересказы и старые ссылки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24A3B56-4730-4CB0-A281-18EE54481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0"/>
            <a:ext cx="4762500" cy="952500"/>
          </a:xfrm>
          <a:prstGeom xmlns:a="http://schemas.openxmlformats.org/drawingml/2006/main" prst="roundRect">
            <a:avLst>
              <a:gd name="adj" fmla="val 2000"/>
            </a:avLst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71374E-E55C-4128-B5ED-DE6705006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005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11827"/>
                </a:solidFill>
              </a:defRPr>
            </a:pPr>
            <a:r>
              <a:rPr sz="1800" b="1">
                <a:solidFill>
                  <a:srgbClr val="111827"/>
                </a:solidFill>
              </a:rPr>
              <a:t>Тесты / автотесты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B35938A-204C-4677-B577-AE7EFC50B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3981450"/>
            <a:ext cx="23336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4B5563"/>
                </a:solidFill>
              </a:defRPr>
            </a:pPr>
            <a:r>
              <a:rPr sz="1500">
                <a:solidFill>
                  <a:srgbClr val="4B5563"/>
                </a:solidFill>
              </a:rPr>
              <a:t>достраивают сценарии после факта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A2CCEE8-5C09-46DB-854B-B9EE9614A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810000"/>
            <a:ext cx="4762500" cy="952500"/>
          </a:xfrm>
          <a:prstGeom xmlns:a="http://schemas.openxmlformats.org/drawingml/2006/main" prst="roundRect">
            <a:avLst>
              <a:gd name="adj" fmla="val 2000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ED7A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BE88CCB-4444-4A5C-A70F-0AD7442C6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0005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11827"/>
                </a:solidFill>
              </a:defRPr>
            </a:pPr>
            <a:r>
              <a:rPr sz="1800" b="1">
                <a:solidFill>
                  <a:srgbClr val="111827"/>
                </a:solidFill>
              </a:rPr>
              <a:t>Аудит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738468C-3B29-495D-A697-E1875CA4E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981450"/>
            <a:ext cx="23336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4B5563"/>
                </a:solidFill>
              </a:defRPr>
            </a:pPr>
            <a:r>
              <a:rPr sz="1500">
                <a:solidFill>
                  <a:srgbClr val="4B5563"/>
                </a:solidFill>
              </a:rPr>
              <a:t>не видит цельную цепочку решений и подтверждений</a:t>
            </a:r>
          </a:p>
        </p:txBody>
      </p:sp>
    </p:spTree>
    <p:extLst>
      <p:ext uri="{BB962C8B-B14F-4D97-AF65-F5344CB8AC3E}">
        <p14:creationId xmlns:p14="http://schemas.microsoft.com/office/powerpoint/2010/main" val="129468772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82F881D-B9E4-4FC7-A1C4-4D40AFF40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F766E"/>
                </a:solidFill>
              </a:defRPr>
            </a:pPr>
            <a:r>
              <a:rPr sz="1200" b="1">
                <a:solidFill>
                  <a:srgbClr val="0F766E"/>
                </a:solidFill>
              </a:rPr>
              <a:t>Принцип решения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F1C73F-6B4D-4262-97E1-0742CE334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88582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11827"/>
                </a:solidFill>
              </a:defRPr>
            </a:pPr>
            <a:r>
              <a:rPr sz="3150" b="1">
                <a:solidFill>
                  <a:srgbClr val="111827"/>
                </a:solidFill>
              </a:rPr>
              <a:t>Основные решения храним в Git и OpenSpec, остальные инструменты работают вокруг них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788B82-7F8A-47B0-B413-E7028CF99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D1D5DB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35DC49-47B1-4653-9F32-C19BC8DDD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B7280"/>
                </a:solidFill>
              </a:defRPr>
            </a:pPr>
            <a:r>
              <a:rPr sz="1125">
                <a:solidFill>
                  <a:srgbClr val="6B7280"/>
                </a:solidFill>
              </a:rPr>
              <a:t>teamSddCli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1CF10D-96A3-4FE5-B161-8DA174BC3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2460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>
                <a:solidFill>
                  <a:srgbClr val="6B7280"/>
                </a:solidFill>
              </a:defRPr>
            </a:pPr>
            <a:r>
              <a:rPr sz="1125">
                <a:solidFill>
                  <a:srgbClr val="6B7280"/>
                </a:solidFill>
              </a:rPr>
              <a:t>03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C2F632-C766-4C5B-BB4F-161F1FEF1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667000"/>
            <a:ext cx="3238500" cy="1143000"/>
          </a:xfrm>
          <a:prstGeom xmlns:a="http://schemas.openxmlformats.org/drawingml/2006/main" prst="roundRect">
            <a:avLst>
              <a:gd name="adj" fmla="val 1667"/>
            </a:avLst>
          </a:prstGeom>
          <a:solidFill xmlns:a="http://schemas.openxmlformats.org/drawingml/2006/main">
            <a:srgbClr val="D1FAE5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0DAD0A-A6E8-4D04-AF4A-8F2DBE25D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905125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0F766E"/>
                </a:solidFill>
              </a:defRPr>
            </a:pPr>
            <a:r>
              <a:rPr sz="2250" b="1">
                <a:solidFill>
                  <a:srgbClr val="0F766E"/>
                </a:solidFill>
              </a:rPr>
              <a:t>Git + OpenSpec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5E87BD2-FD2F-4103-999D-E7014F5CE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3333750"/>
            <a:ext cx="2571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>
                <a:solidFill>
                  <a:srgbClr val="111827"/>
                </a:solidFill>
              </a:defRPr>
            </a:pPr>
            <a:r>
              <a:rPr sz="1425">
                <a:solidFill>
                  <a:srgbClr val="111827"/>
                </a:solidFill>
              </a:rPr>
              <a:t>главные требования и пакеты изменений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7404860-C504-4084-A58E-7DE810F2E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381250"/>
            <a:ext cx="2286000" cy="819150"/>
          </a:xfrm>
          <a:prstGeom xmlns:a="http://schemas.openxmlformats.org/drawingml/2006/main" prst="roundRect">
            <a:avLst>
              <a:gd name="adj" fmla="val 2326"/>
            </a:avLst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4F19EF4-BC15-4C31-9071-31823387F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533650"/>
            <a:ext cx="1943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Confluence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45845A-09C9-401E-A4F1-E56568AFA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2838450"/>
            <a:ext cx="1943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>
                <a:solidFill>
                  <a:srgbClr val="4B5563"/>
                </a:solidFill>
              </a:defRPr>
            </a:pPr>
            <a:r>
              <a:rPr sz="1200">
                <a:solidFill>
                  <a:srgbClr val="4B5563"/>
                </a:solidFill>
              </a:rPr>
              <a:t>страницы для чтения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30AD4A-289B-4F41-942A-800FC68D7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381250"/>
            <a:ext cx="2286000" cy="819150"/>
          </a:xfrm>
          <a:prstGeom xmlns:a="http://schemas.openxmlformats.org/drawingml/2006/main" prst="roundRect">
            <a:avLst>
              <a:gd name="adj" fmla="val 2326"/>
            </a:avLst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0549EE1-4F79-47B0-9433-440BC0854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533650"/>
            <a:ext cx="1943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Jira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7F9CA15-8829-47E1-8737-8F8059C2E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838450"/>
            <a:ext cx="1943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>
                <a:solidFill>
                  <a:srgbClr val="4B5563"/>
                </a:solidFill>
              </a:defRPr>
            </a:pPr>
            <a:r>
              <a:rPr sz="1200">
                <a:solidFill>
                  <a:srgbClr val="4B5563"/>
                </a:solidFill>
              </a:rPr>
              <a:t>статусы и задачи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BBC3785-C929-401C-8EE0-239BA5578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400550"/>
            <a:ext cx="2286000" cy="819150"/>
          </a:xfrm>
          <a:prstGeom xmlns:a="http://schemas.openxmlformats.org/drawingml/2006/main" prst="roundRect">
            <a:avLst>
              <a:gd name="adj" fmla="val 2326"/>
            </a:avLst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16D6819-3D9F-49C7-8FEB-55B294E5D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4552950"/>
            <a:ext cx="1943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Bitbucket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057C8CF-B38A-4972-89A6-30AA6A343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4857750"/>
            <a:ext cx="1943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>
                <a:solidFill>
                  <a:srgbClr val="4B5563"/>
                </a:solidFill>
              </a:defRPr>
            </a:pPr>
            <a:r>
              <a:rPr sz="1200">
                <a:solidFill>
                  <a:srgbClr val="4B5563"/>
                </a:solidFill>
              </a:rPr>
              <a:t>ревью и история решений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AD3F0D1-7753-4C32-AB96-17AC791F5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400550"/>
            <a:ext cx="2286000" cy="819150"/>
          </a:xfrm>
          <a:prstGeom xmlns:a="http://schemas.openxmlformats.org/drawingml/2006/main" prst="roundRect">
            <a:avLst>
              <a:gd name="adj" fmla="val 2326"/>
            </a:avLst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22D35C2-7CDC-427C-B99F-0EF297C6C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5825" y="4552950"/>
            <a:ext cx="19431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Jenkins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4C3036A-1952-49BE-B9C3-E67B3080C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5825" y="4857750"/>
            <a:ext cx="1943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>
                <a:solidFill>
                  <a:srgbClr val="4B5563"/>
                </a:solidFill>
              </a:defRPr>
            </a:pPr>
            <a:r>
              <a:rPr sz="1200">
                <a:solidFill>
                  <a:srgbClr val="4B5563"/>
                </a:solidFill>
              </a:rPr>
              <a:t>автоматические проверки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3AF2772-F3ED-45A3-9151-96157D629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819400"/>
            <a:ext cx="990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CA3AF"/>
          </a:solidFill>
          <a:ln xmlns:a="http://schemas.openxmlformats.org/drawingml/2006/main" w="0">
            <a:solidFill>
              <a:srgbClr val="9CA3A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FCB0E7A-0FF3-400F-9A3B-C63E57029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819400"/>
            <a:ext cx="914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CA3AF"/>
          </a:solidFill>
          <a:ln xmlns:a="http://schemas.openxmlformats.org/drawingml/2006/main" w="0">
            <a:solidFill>
              <a:srgbClr val="9CA3A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804C068-0474-4E24-803E-25A91D7C6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762500"/>
            <a:ext cx="666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CA3AF"/>
          </a:solidFill>
          <a:ln xmlns:a="http://schemas.openxmlformats.org/drawingml/2006/main" w="0">
            <a:solidFill>
              <a:srgbClr val="9CA3A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BDD41F2-13BA-484F-B411-7D6B98952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762500"/>
            <a:ext cx="61912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CA3AF"/>
          </a:solidFill>
          <a:ln xmlns:a="http://schemas.openxmlformats.org/drawingml/2006/main" w="0">
            <a:solidFill>
              <a:srgbClr val="9CA3AF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88136120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07AAB9A-992E-4D01-9827-57D5739A4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F766E"/>
                </a:solidFill>
              </a:defRPr>
            </a:pPr>
            <a:r>
              <a:rPr sz="1200" b="1">
                <a:solidFill>
                  <a:srgbClr val="0F766E"/>
                </a:solidFill>
              </a:rPr>
              <a:t>Центральный объект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4A5E4E-6039-4BB9-B6B8-CE22F35B5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88582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11827"/>
                </a:solidFill>
              </a:defRPr>
            </a:pPr>
            <a:r>
              <a:rPr sz="3150" b="1">
                <a:solidFill>
                  <a:srgbClr val="111827"/>
                </a:solidFill>
              </a:rPr>
              <a:t>Пакет изменения связывает решение, реализацию и проверку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43F845-8CD6-477A-A564-B6FFA0AEB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D1D5DB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4FACF7-8228-4AC5-97A6-82CEAA935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B7280"/>
                </a:solidFill>
              </a:defRPr>
            </a:pPr>
            <a:r>
              <a:rPr sz="1125">
                <a:solidFill>
                  <a:srgbClr val="6B7280"/>
                </a:solidFill>
              </a:rPr>
              <a:t>teamSddCli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F5DDFD-6FB6-4BBF-93DF-DDAE7D1F8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2460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>
                <a:solidFill>
                  <a:srgbClr val="6B7280"/>
                </a:solidFill>
              </a:defRPr>
            </a:pPr>
            <a:r>
              <a:rPr sz="1125">
                <a:solidFill>
                  <a:srgbClr val="6B7280"/>
                </a:solidFill>
              </a:rPr>
              <a:t>04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EEBF41-FDF6-4644-BC11-AA39E6912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62300"/>
            <a:ext cx="1695450" cy="1066800"/>
          </a:xfrm>
          <a:prstGeom xmlns:a="http://schemas.openxmlformats.org/drawingml/2006/main" prst="roundRect">
            <a:avLst>
              <a:gd name="adj" fmla="val 1786"/>
            </a:avLst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0284E9-8F10-4418-AA88-A78ED078A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71850"/>
            <a:ext cx="1390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11827"/>
                </a:solidFill>
              </a:defRPr>
            </a:pPr>
            <a:r>
              <a:rPr sz="1725" b="1">
                <a:solidFill>
                  <a:srgbClr val="111827"/>
                </a:solidFill>
              </a:rPr>
              <a:t>Замысел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FAE93E0-8AC8-4D61-89BC-7090B0AE0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752850"/>
            <a:ext cx="1390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>
                <a:solidFill>
                  <a:srgbClr val="4B5563"/>
                </a:solidFill>
              </a:defRPr>
            </a:pPr>
            <a:r>
              <a:rPr sz="1350">
                <a:solidFill>
                  <a:srgbClr val="4B5563"/>
                </a:solidFill>
              </a:rPr>
              <a:t>что меняем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BD51BD-86FC-49A3-8F0F-E528FBEEC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3686175"/>
            <a:ext cx="571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CA3AF"/>
          </a:solidFill>
          <a:ln xmlns:a="http://schemas.openxmlformats.org/drawingml/2006/main" w="0">
            <a:solidFill>
              <a:srgbClr val="9CA3A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B623D7D-2EAD-4314-BB97-A678CAFFF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162300"/>
            <a:ext cx="1695450" cy="1066800"/>
          </a:xfrm>
          <a:prstGeom xmlns:a="http://schemas.openxmlformats.org/drawingml/2006/main" prst="roundRect">
            <a:avLst>
              <a:gd name="adj" fmla="val 1786"/>
            </a:avLst>
          </a:prstGeom>
          <a:solidFill xmlns:a="http://schemas.openxmlformats.org/drawingml/2006/main">
            <a:srgbClr val="D1FAE5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1823B97-465D-4919-9C8A-82C3EEADC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3371850"/>
            <a:ext cx="1390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F766E"/>
                </a:solidFill>
              </a:defRPr>
            </a:pPr>
            <a:r>
              <a:rPr sz="1725" b="1">
                <a:solidFill>
                  <a:srgbClr val="0F766E"/>
                </a:solidFill>
              </a:rPr>
              <a:t>Сценарий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41D839-C6ED-4336-BBF6-24303421A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3752850"/>
            <a:ext cx="1390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>
                <a:solidFill>
                  <a:srgbClr val="4B5563"/>
                </a:solidFill>
              </a:defRPr>
            </a:pPr>
            <a:r>
              <a:rPr sz="1350">
                <a:solidFill>
                  <a:srgbClr val="4B5563"/>
                </a:solidFill>
              </a:rPr>
              <a:t>как проверяем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0FE9D8F-72A3-46CA-9265-E5116331B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686175"/>
            <a:ext cx="571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CA3AF"/>
          </a:solidFill>
          <a:ln xmlns:a="http://schemas.openxmlformats.org/drawingml/2006/main" w="0">
            <a:solidFill>
              <a:srgbClr val="9CA3A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10BCDB6-27BB-4EAF-BC75-76BC46D00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3162300"/>
            <a:ext cx="1695450" cy="1066800"/>
          </a:xfrm>
          <a:prstGeom xmlns:a="http://schemas.openxmlformats.org/drawingml/2006/main" prst="roundRect">
            <a:avLst>
              <a:gd name="adj" fmla="val 1786"/>
            </a:avLst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B36613A-6AD8-41FB-A1F3-D785BE7FF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3371850"/>
            <a:ext cx="1390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11827"/>
                </a:solidFill>
              </a:defRPr>
            </a:pPr>
            <a:r>
              <a:rPr sz="1725" b="1">
                <a:solidFill>
                  <a:srgbClr val="111827"/>
                </a:solidFill>
              </a:rPr>
              <a:t>Задачи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005AD88-AB05-4CBF-A5FD-F693B4802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3752850"/>
            <a:ext cx="1390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>
                <a:solidFill>
                  <a:srgbClr val="4B5563"/>
                </a:solidFill>
              </a:defRPr>
            </a:pPr>
            <a:r>
              <a:rPr sz="1350">
                <a:solidFill>
                  <a:srgbClr val="4B5563"/>
                </a:solidFill>
              </a:rPr>
              <a:t>кто делает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C3552F4-7CFC-41D0-BCFC-DC53B1D56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686175"/>
            <a:ext cx="571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CA3AF"/>
          </a:solidFill>
          <a:ln xmlns:a="http://schemas.openxmlformats.org/drawingml/2006/main" w="0">
            <a:solidFill>
              <a:srgbClr val="9CA3A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18726B7-D15E-452B-A0C6-45A9F5061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162300"/>
            <a:ext cx="1695450" cy="1066800"/>
          </a:xfrm>
          <a:prstGeom xmlns:a="http://schemas.openxmlformats.org/drawingml/2006/main" prst="roundRect">
            <a:avLst>
              <a:gd name="adj" fmla="val 1786"/>
            </a:avLst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4A6DF5A-7110-4CC7-AC2B-6C9CD7DF7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371850"/>
            <a:ext cx="1390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11827"/>
                </a:solidFill>
              </a:defRPr>
            </a:pPr>
            <a:r>
              <a:rPr sz="1725" b="1">
                <a:solidFill>
                  <a:srgbClr val="111827"/>
                </a:solidFill>
              </a:rPr>
              <a:t>Доказано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5A0255C-330F-4B94-9DA9-71F6A8BDB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752850"/>
            <a:ext cx="1390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>
                <a:solidFill>
                  <a:srgbClr val="4B5563"/>
                </a:solidFill>
              </a:defRPr>
            </a:pPr>
            <a:r>
              <a:rPr sz="1350">
                <a:solidFill>
                  <a:srgbClr val="4B5563"/>
                </a:solidFill>
              </a:rPr>
              <a:t>чем подтверждено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A586A29-2F61-4131-A93B-8D7BB8D6A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686175"/>
            <a:ext cx="571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CA3AF"/>
          </a:solidFill>
          <a:ln xmlns:a="http://schemas.openxmlformats.org/drawingml/2006/main" w="0">
            <a:solidFill>
              <a:srgbClr val="9CA3A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E1D6A1F-EB02-4787-A373-CF4005263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162300"/>
            <a:ext cx="1695450" cy="1066800"/>
          </a:xfrm>
          <a:prstGeom xmlns:a="http://schemas.openxmlformats.org/drawingml/2006/main" prst="roundRect">
            <a:avLst>
              <a:gd name="adj" fmla="val 1786"/>
            </a:avLst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2E29ACE-8282-425D-8F6D-3D477DD52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3371850"/>
            <a:ext cx="1390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11827"/>
                </a:solidFill>
              </a:defRPr>
            </a:pPr>
            <a:r>
              <a:rPr sz="1725" b="1">
                <a:solidFill>
                  <a:srgbClr val="111827"/>
                </a:solidFill>
              </a:rPr>
              <a:t>Норма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76B7DEF-FAD3-4C56-B45F-4DF543B22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3752850"/>
            <a:ext cx="1390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>
                <a:solidFill>
                  <a:srgbClr val="4B5563"/>
                </a:solidFill>
              </a:defRPr>
            </a:pPr>
            <a:r>
              <a:rPr sz="1350">
                <a:solidFill>
                  <a:srgbClr val="4B5563"/>
                </a:solidFill>
              </a:rPr>
              <a:t>что стало правилом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CF3008A-6806-43F2-8143-AC476C65C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4838700"/>
            <a:ext cx="838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025">
                <a:solidFill>
                  <a:srgbClr val="111827"/>
                </a:solidFill>
              </a:defRPr>
            </a:pPr>
            <a:r>
              <a:rPr sz="2025">
                <a:solidFill>
                  <a:srgbClr val="111827"/>
                </a:solidFill>
              </a:rPr>
              <a:t>Команда обсуждает не набор файлов, а одну понятную историю изменения.</a:t>
            </a:r>
          </a:p>
        </p:txBody>
      </p:sp>
    </p:spTree>
    <p:extLst>
      <p:ext uri="{BB962C8B-B14F-4D97-AF65-F5344CB8AC3E}">
        <p14:creationId xmlns:p14="http://schemas.microsoft.com/office/powerpoint/2010/main" val="37887023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4178100-8267-4214-A393-FE3432276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F766E"/>
                </a:solidFill>
              </a:defRPr>
            </a:pPr>
            <a:r>
              <a:rPr sz="1200" b="1">
                <a:solidFill>
                  <a:srgbClr val="0F766E"/>
                </a:solidFill>
              </a:rPr>
              <a:t>Что входит в первый запуск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64C423-F577-423D-8586-52E9E971E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88582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11827"/>
                </a:solidFill>
              </a:defRPr>
            </a:pPr>
            <a:r>
              <a:rPr sz="3150" b="1">
                <a:solidFill>
                  <a:srgbClr val="111827"/>
                </a:solidFill>
              </a:rPr>
              <a:t>Первый результат доказывает легкий путь изменения без тяжелых интеграций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071B67-561E-4858-B2F4-554268C51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D1D5DB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E19019-4029-4FDD-83DB-45BE6A8AA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B7280"/>
                </a:solidFill>
              </a:defRPr>
            </a:pPr>
            <a:r>
              <a:rPr sz="1125">
                <a:solidFill>
                  <a:srgbClr val="6B7280"/>
                </a:solidFill>
              </a:rPr>
              <a:t>teamSddCli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A7F8FD-CACE-49E4-8B88-D79188234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2460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>
                <a:solidFill>
                  <a:srgbClr val="6B7280"/>
                </a:solidFill>
              </a:defRPr>
            </a:pPr>
            <a:r>
              <a:rPr sz="1125">
                <a:solidFill>
                  <a:srgbClr val="6B7280"/>
                </a:solidFill>
              </a:rPr>
              <a:t>05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50A975-70BD-4718-9B41-53F00CE70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28875"/>
            <a:ext cx="66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0F766E"/>
                </a:solidFill>
              </a:defRPr>
            </a:pPr>
            <a:r>
              <a:rPr sz="3600" b="1">
                <a:solidFill>
                  <a:srgbClr val="0F766E"/>
                </a:solidFill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674305-1A35-4D97-B735-D68C3E57B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43250"/>
            <a:ext cx="2000250" cy="1200150"/>
          </a:xfrm>
          <a:prstGeom xmlns:a="http://schemas.openxmlformats.org/drawingml/2006/main" prst="roundRect">
            <a:avLst>
              <a:gd name="adj" fmla="val 1587"/>
            </a:avLst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12CB64-746C-412C-8C65-D999488C2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71850"/>
            <a:ext cx="1619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Создать пакет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C1DECA-2363-495F-8649-002D001F1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84810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>
                <a:solidFill>
                  <a:srgbClr val="4B5563"/>
                </a:solidFill>
              </a:defRPr>
            </a:pPr>
            <a:r>
              <a:rPr sz="1275">
                <a:solidFill>
                  <a:srgbClr val="4B5563"/>
                </a:solidFill>
              </a:rPr>
              <a:t>из шаблона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F47CCE-413E-4D50-8E7D-247CC422A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3733800"/>
            <a:ext cx="7143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CA3AF"/>
          </a:solidFill>
          <a:ln xmlns:a="http://schemas.openxmlformats.org/drawingml/2006/main" w="0">
            <a:solidFill>
              <a:srgbClr val="9CA3A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925FC4E-58FA-4F0C-B489-438F668A3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9025" y="2428875"/>
            <a:ext cx="66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0F766E"/>
                </a:solidFill>
              </a:defRPr>
            </a:pPr>
            <a:r>
              <a:rPr sz="3600" b="1">
                <a:solidFill>
                  <a:srgbClr val="0F766E"/>
                </a:solidFill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6755537-6C44-4779-B34B-16CB09332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8525" y="3143250"/>
            <a:ext cx="2000250" cy="1200150"/>
          </a:xfrm>
          <a:prstGeom xmlns:a="http://schemas.openxmlformats.org/drawingml/2006/main" prst="roundRect">
            <a:avLst>
              <a:gd name="adj" fmla="val 1587"/>
            </a:avLst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D700691-392F-4696-88B1-EB96E9564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9025" y="3371850"/>
            <a:ext cx="1619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Проверить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D9F1A9C-33D7-430A-B278-45E784BCC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9025" y="384810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>
                <a:solidFill>
                  <a:srgbClr val="4B5563"/>
                </a:solidFill>
              </a:defRPr>
            </a:pPr>
            <a:r>
              <a:rPr sz="1275">
                <a:solidFill>
                  <a:srgbClr val="4B5563"/>
                </a:solidFill>
              </a:rPr>
              <a:t>структуру и связи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48069B0-39FB-40B9-900B-5B2F8BF0A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8775" y="3733800"/>
            <a:ext cx="7143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CA3AF"/>
          </a:solidFill>
          <a:ln xmlns:a="http://schemas.openxmlformats.org/drawingml/2006/main" w="0">
            <a:solidFill>
              <a:srgbClr val="9CA3A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A4BEFCB-3092-492C-AB08-806ADF250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428875"/>
            <a:ext cx="66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0F766E"/>
                </a:solidFill>
              </a:defRPr>
            </a:pPr>
            <a:r>
              <a:rPr sz="3600" b="1">
                <a:solidFill>
                  <a:srgbClr val="0F766E"/>
                </a:solidFill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5664B70-B7B8-4C48-B843-9935D3CF9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143250"/>
            <a:ext cx="2000250" cy="1200150"/>
          </a:xfrm>
          <a:prstGeom xmlns:a="http://schemas.openxmlformats.org/drawingml/2006/main" prst="roundRect">
            <a:avLst>
              <a:gd name="adj" fmla="val 1587"/>
            </a:avLst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B1B9259-DB36-44C2-B1BE-50223D100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371850"/>
            <a:ext cx="1619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Отдать на ревью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13D11D7-FF33-4F99-A541-D7BFA0E17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84810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>
                <a:solidFill>
                  <a:srgbClr val="4B5563"/>
                </a:solidFill>
              </a:defRPr>
            </a:pPr>
            <a:r>
              <a:rPr sz="1275">
                <a:solidFill>
                  <a:srgbClr val="4B5563"/>
                </a:solidFill>
              </a:rPr>
              <a:t>требования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A1598FF-861E-4CB5-826B-873B98D6A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733800"/>
            <a:ext cx="7143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CA3AF"/>
          </a:solidFill>
          <a:ln xmlns:a="http://schemas.openxmlformats.org/drawingml/2006/main" w="0">
            <a:solidFill>
              <a:srgbClr val="9CA3A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5F34C78-0000-497C-AEE0-F5A8F05A5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2428875"/>
            <a:ext cx="666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0F766E"/>
                </a:solidFill>
              </a:defRPr>
            </a:pPr>
            <a:r>
              <a:rPr sz="3600" b="1">
                <a:solidFill>
                  <a:srgbClr val="0F766E"/>
                </a:solidFill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9D248EB-C456-4AC0-BB0E-F232AE3CF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3143250"/>
            <a:ext cx="2000250" cy="1200150"/>
          </a:xfrm>
          <a:prstGeom xmlns:a="http://schemas.openxmlformats.org/drawingml/2006/main" prst="roundRect">
            <a:avLst>
              <a:gd name="adj" fmla="val 1587"/>
            </a:avLst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498C780-9FBF-44F3-B4A8-D9E7D92B8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3371850"/>
            <a:ext cx="1619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Зафиксировать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EFA9166-66A0-46D2-8184-6CB77E4CB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384810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>
                <a:solidFill>
                  <a:srgbClr val="4B5563"/>
                </a:solidFill>
              </a:defRPr>
            </a:pPr>
            <a:r>
              <a:rPr sz="1275">
                <a:solidFill>
                  <a:srgbClr val="4B5563"/>
                </a:solidFill>
              </a:rPr>
              <a:t>в действующих требованиях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89295A4-CC0C-488A-93BF-1130CFF92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5048250"/>
            <a:ext cx="857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>
                <a:solidFill>
                  <a:srgbClr val="111827"/>
                </a:solidFill>
              </a:defRPr>
            </a:pPr>
            <a:r>
              <a:rPr sz="1875">
                <a:solidFill>
                  <a:srgbClr val="111827"/>
                </a:solidFill>
              </a:rPr>
              <a:t>Результат: видно, какое требование чем проверено и подтверждено.</a:t>
            </a:r>
          </a:p>
        </p:txBody>
      </p:sp>
    </p:spTree>
    <p:extLst>
      <p:ext uri="{BB962C8B-B14F-4D97-AF65-F5344CB8AC3E}">
        <p14:creationId xmlns:p14="http://schemas.microsoft.com/office/powerpoint/2010/main" val="174388929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109325D-FB05-4D64-901C-B64CD55A5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F766E"/>
                </a:solidFill>
              </a:defRPr>
            </a:pPr>
            <a:r>
              <a:rPr sz="1200" b="1">
                <a:solidFill>
                  <a:srgbClr val="0F766E"/>
                </a:solidFill>
              </a:rPr>
              <a:t>Граница первого запуска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C26C33-1550-4EDC-9EAF-EA8E867F9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88582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11827"/>
                </a:solidFill>
              </a:defRPr>
            </a:pPr>
            <a:r>
              <a:rPr sz="3150" b="1">
                <a:solidFill>
                  <a:srgbClr val="111827"/>
                </a:solidFill>
              </a:rPr>
              <a:t>Первый результат намеренно узкий, чтобы успеть и не потерять качество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97B49C-A854-4EA2-AB6F-65F6A4568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D1D5DB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1345D8-0AE9-4AD8-9532-019BE36B6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B7280"/>
                </a:solidFill>
              </a:defRPr>
            </a:pPr>
            <a:r>
              <a:rPr sz="1125">
                <a:solidFill>
                  <a:srgbClr val="6B7280"/>
                </a:solidFill>
              </a:rPr>
              <a:t>teamSddCli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6597B4-126E-451F-9424-4E358816A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2460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>
                <a:solidFill>
                  <a:srgbClr val="6B7280"/>
                </a:solidFill>
              </a:defRPr>
            </a:pPr>
            <a:r>
              <a:rPr sz="1125">
                <a:solidFill>
                  <a:srgbClr val="6B7280"/>
                </a:solidFill>
              </a:rPr>
              <a:t>06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7BC858-66E8-4BA7-8DF6-DC18AD077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400300"/>
            <a:ext cx="238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F766E"/>
                </a:solidFill>
              </a:defRPr>
            </a:pPr>
            <a:r>
              <a:rPr sz="2250" b="1">
                <a:solidFill>
                  <a:srgbClr val="0F766E"/>
                </a:solidFill>
              </a:rPr>
              <a:t>Входит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01B36C-5395-40B7-B6DF-A4E5ACDFB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1432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D44172-CC8F-40C4-9FF1-B2F80B2AF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67050"/>
            <a:ext cx="3886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111827"/>
                </a:solidFill>
              </a:defRPr>
            </a:pPr>
            <a:r>
              <a:rPr sz="1725">
                <a:solidFill>
                  <a:srgbClr val="111827"/>
                </a:solidFill>
              </a:rPr>
              <a:t>легкий пакет изменения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E522948-1442-4424-8FA7-34D06E2FB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7147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7BB0A4-A050-4245-BF84-F7F6D116F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638550"/>
            <a:ext cx="3886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111827"/>
                </a:solidFill>
              </a:defRPr>
            </a:pPr>
            <a:r>
              <a:rPr sz="1725">
                <a:solidFill>
                  <a:srgbClr val="111827"/>
                </a:solidFill>
              </a:rPr>
              <a:t>локальная проверка правил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F6BC14-C6E0-40F0-A107-1D8864FBF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2862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051AC8-D102-4C41-9E2D-4AD49558D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210050"/>
            <a:ext cx="3886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111827"/>
                </a:solidFill>
              </a:defRPr>
            </a:pPr>
            <a:r>
              <a:rPr sz="1725">
                <a:solidFill>
                  <a:srgbClr val="111827"/>
                </a:solidFill>
              </a:rPr>
              <a:t>ревью и фиксация требований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2D0F831-01C6-4E82-96FD-C3657DBA5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8577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C8282E8-C58D-4B18-96F2-569DFF0AB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781550"/>
            <a:ext cx="3886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111827"/>
                </a:solidFill>
              </a:defRPr>
            </a:pPr>
            <a:r>
              <a:rPr sz="1725">
                <a:solidFill>
                  <a:srgbClr val="111827"/>
                </a:solidFill>
              </a:rPr>
              <a:t>базовая карта связей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591C153-CD88-4978-93C0-9ECD865E8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400300"/>
            <a:ext cx="3429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B45309"/>
                </a:solidFill>
              </a:defRPr>
            </a:pPr>
            <a:r>
              <a:rPr sz="2250" b="1">
                <a:solidFill>
                  <a:srgbClr val="B45309"/>
                </a:solidFill>
              </a:rPr>
              <a:t>После первого запуска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3F3CD51-AB37-4465-98AD-486F8BEB7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1432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B45309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9FF9BCC-25B4-4F7B-902E-58024D31A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067050"/>
            <a:ext cx="3886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111827"/>
                </a:solidFill>
              </a:defRPr>
            </a:pPr>
            <a:r>
              <a:rPr sz="1725">
                <a:solidFill>
                  <a:srgbClr val="111827"/>
                </a:solidFill>
              </a:rPr>
              <a:t>публикация в Confluence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5D0CC88-475E-4620-8CB3-ACDCF0616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7147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B4530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2626917-AAF4-4757-A502-3AFC89C41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638550"/>
            <a:ext cx="3886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111827"/>
                </a:solidFill>
              </a:defRPr>
            </a:pPr>
            <a:r>
              <a:rPr sz="1725">
                <a:solidFill>
                  <a:srgbClr val="111827"/>
                </a:solidFill>
              </a:rPr>
              <a:t>автоматизация задач в Jira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2008247-96E0-4D25-98E7-462F5B0F9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2862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B45309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CD438B5-5270-49D6-976B-F98EB259F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4210050"/>
            <a:ext cx="3886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111827"/>
                </a:solidFill>
              </a:defRPr>
            </a:pPr>
            <a:r>
              <a:rPr sz="1725">
                <a:solidFill>
                  <a:srgbClr val="111827"/>
                </a:solidFill>
              </a:rPr>
              <a:t>помощь для тестов и автотестов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0486BDE-ECC4-44E0-A6F9-B6BEAD8DE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857750"/>
            <a:ext cx="762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B45309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EB18D68-C424-46BF-B41F-63224911E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4781550"/>
            <a:ext cx="3886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111827"/>
                </a:solidFill>
              </a:defRPr>
            </a:pPr>
            <a:r>
              <a:rPr sz="1725">
                <a:solidFill>
                  <a:srgbClr val="111827"/>
                </a:solidFill>
              </a:rPr>
              <a:t>личные рабочие списки, выкладка, Zephyr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68B6B72-4950-4126-B345-C6964235F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381250"/>
            <a:ext cx="9525" cy="0"/>
          </a:xfrm>
          <a:prstGeom xmlns:a="http://schemas.openxmlformats.org/drawingml/2006/main" prst="rect">
            <a:avLst/>
          </a:prstGeom>
          <a:ln xmlns:a="http://schemas.openxmlformats.org/drawingml/2006/main" w="0">
            <a:prstDash val="solid"/>
          </a:ln>
        </p:spPr>
      </p:sp>
    </p:spTree>
    <p:extLst>
      <p:ext uri="{BB962C8B-B14F-4D97-AF65-F5344CB8AC3E}">
        <p14:creationId xmlns:p14="http://schemas.microsoft.com/office/powerpoint/2010/main" val="78677471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D5F7796-695E-4791-869E-93FE4BBB7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F766E"/>
                </a:solidFill>
              </a:defRPr>
            </a:pPr>
            <a:r>
              <a:rPr sz="1200" b="1">
                <a:solidFill>
                  <a:srgbClr val="0F766E"/>
                </a:solidFill>
              </a:rPr>
              <a:t>Сроки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D7E88EF-70BE-4118-ABEB-8EF40E48C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88582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11827"/>
                </a:solidFill>
              </a:defRPr>
            </a:pPr>
            <a:r>
              <a:rPr sz="3150" b="1">
                <a:solidFill>
                  <a:srgbClr val="111827"/>
                </a:solidFill>
              </a:rPr>
              <a:t>План укладывается в 1,5 месяца, если держать объем работ узким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F6A5D0-6863-403A-9458-C11022090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D1D5DB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B41B55-0204-4B7A-9434-93DFA8E7A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B7280"/>
                </a:solidFill>
              </a:defRPr>
            </a:pPr>
            <a:r>
              <a:rPr sz="1125">
                <a:solidFill>
                  <a:srgbClr val="6B7280"/>
                </a:solidFill>
              </a:rPr>
              <a:t>teamSddCli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95F714-8FB6-4CA5-A074-BE6759F5B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2460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>
                <a:solidFill>
                  <a:srgbClr val="6B7280"/>
                </a:solidFill>
              </a:defRPr>
            </a:pPr>
            <a:r>
              <a:rPr sz="1125">
                <a:solidFill>
                  <a:srgbClr val="6B7280"/>
                </a:solidFill>
              </a:rPr>
              <a:t>07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865209-4B78-4163-AE9D-6679D0E2A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724150"/>
            <a:ext cx="1828800" cy="1790700"/>
          </a:xfrm>
          <a:prstGeom xmlns:a="http://schemas.openxmlformats.org/drawingml/2006/main" prst="roundRect">
            <a:avLst>
              <a:gd name="adj" fmla="val 1064"/>
            </a:avLst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1CC773-B279-493C-9123-574FC2FC1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52750"/>
            <a:ext cx="1485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11827"/>
                </a:solidFill>
              </a:defRPr>
            </a:pPr>
            <a:r>
              <a:rPr sz="1425" b="1">
                <a:solidFill>
                  <a:srgbClr val="111827"/>
                </a:solidFill>
              </a:rPr>
              <a:t>Неделя 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E58169-FCAB-47FA-8850-822EFDCC7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33750"/>
            <a:ext cx="1485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11827"/>
                </a:solidFill>
              </a:defRPr>
            </a:pPr>
            <a:r>
              <a:rPr sz="1425" b="1">
                <a:solidFill>
                  <a:srgbClr val="111827"/>
                </a:solidFill>
              </a:rPr>
              <a:t>Сверка требований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F65EB8-BE8E-476D-9B35-94B1FE5DF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962400"/>
            <a:ext cx="1485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4B5563"/>
                </a:solidFill>
              </a:defRPr>
            </a:pPr>
            <a:r>
              <a:rPr sz="1050">
                <a:solidFill>
                  <a:srgbClr val="4B5563"/>
                </a:solidFill>
              </a:rPr>
              <a:t>закрыть открытые решения первой фазы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013CBD-BD9E-4AE5-8CE3-E02A97B97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2724150"/>
            <a:ext cx="1828800" cy="1790700"/>
          </a:xfrm>
          <a:prstGeom xmlns:a="http://schemas.openxmlformats.org/drawingml/2006/main" prst="roundRect">
            <a:avLst>
              <a:gd name="adj" fmla="val 1064"/>
            </a:avLst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6FFDE8-62FE-4AEC-A93F-C4C22D4F9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952750"/>
            <a:ext cx="1485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11827"/>
                </a:solidFill>
              </a:defRPr>
            </a:pPr>
            <a:r>
              <a:rPr sz="1425" b="1">
                <a:solidFill>
                  <a:srgbClr val="111827"/>
                </a:solidFill>
              </a:rPr>
              <a:t>Неделя 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D64F6E4-55AE-4019-9A43-F37CE766D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3333750"/>
            <a:ext cx="1485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11827"/>
                </a:solidFill>
              </a:defRPr>
            </a:pPr>
            <a:r>
              <a:rPr sz="1425" b="1">
                <a:solidFill>
                  <a:srgbClr val="111827"/>
                </a:solidFill>
              </a:rPr>
              <a:t>Архитектура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16684EF-4AAF-45EF-B826-E47AB5C70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3962400"/>
            <a:ext cx="1485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4B5563"/>
                </a:solidFill>
              </a:defRPr>
            </a:pPr>
            <a:r>
              <a:rPr sz="1050">
                <a:solidFill>
                  <a:srgbClr val="4B5563"/>
                </a:solidFill>
              </a:rPr>
              <a:t>схема репозиториев, настройки, версия OpenSpec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B69C475-298B-4436-BE3D-D3B36C7A4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2724150"/>
            <a:ext cx="2057400" cy="1790700"/>
          </a:xfrm>
          <a:prstGeom xmlns:a="http://schemas.openxmlformats.org/drawingml/2006/main" prst="roundRect">
            <a:avLst>
              <a:gd name="adj" fmla="val 1064"/>
            </a:avLst>
          </a:prstGeom>
          <a:solidFill xmlns:a="http://schemas.openxmlformats.org/drawingml/2006/main">
            <a:srgbClr val="D1FAE5"/>
          </a:solidFill>
          <a:ln xmlns:a="http://schemas.openxmlformats.org/drawingml/2006/main" w="9525">
            <a:solidFill>
              <a:srgbClr val="0F766E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1147F48-25FA-4E73-A419-56C69737C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29527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0F766E"/>
                </a:solidFill>
              </a:defRPr>
            </a:pPr>
            <a:r>
              <a:rPr sz="1425" b="1">
                <a:solidFill>
                  <a:srgbClr val="0F766E"/>
                </a:solidFill>
              </a:rPr>
              <a:t>Неделя 3-4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DB0C339-A302-4C58-A7A1-1BA8B800B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3333750"/>
            <a:ext cx="1714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11827"/>
                </a:solidFill>
              </a:defRPr>
            </a:pPr>
            <a:r>
              <a:rPr sz="1425" b="1">
                <a:solidFill>
                  <a:srgbClr val="111827"/>
                </a:solidFill>
              </a:rPr>
              <a:t>Легкий путь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EEAF6D-871E-4F01-942D-0AE4D7F71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3962400"/>
            <a:ext cx="1714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4B5563"/>
                </a:solidFill>
              </a:defRPr>
            </a:pPr>
            <a:r>
              <a:rPr sz="1050">
                <a:solidFill>
                  <a:srgbClr val="4B5563"/>
                </a:solidFill>
              </a:rPr>
              <a:t>шаблоны, проверка, ревью и фиксация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0E669E6-5A7E-4E3F-9FEA-8D4F5EA60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724150"/>
            <a:ext cx="1828800" cy="1790700"/>
          </a:xfrm>
          <a:prstGeom xmlns:a="http://schemas.openxmlformats.org/drawingml/2006/main" prst="roundRect">
            <a:avLst>
              <a:gd name="adj" fmla="val 1064"/>
            </a:avLst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7FB7179-DA4F-450A-9DBC-5F4F1DCF0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952750"/>
            <a:ext cx="1485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11827"/>
                </a:solidFill>
              </a:defRPr>
            </a:pPr>
            <a:r>
              <a:rPr sz="1425" b="1">
                <a:solidFill>
                  <a:srgbClr val="111827"/>
                </a:solidFill>
              </a:rPr>
              <a:t>Неделя 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43199AA-D21A-4BC4-9481-0B60E4555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333750"/>
            <a:ext cx="1485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11827"/>
                </a:solidFill>
              </a:defRPr>
            </a:pPr>
            <a:r>
              <a:rPr sz="1425" b="1">
                <a:solidFill>
                  <a:srgbClr val="111827"/>
                </a:solidFill>
              </a:rPr>
              <a:t>Укрепление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8490ABB-1CFC-49DB-B32C-56F288C53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962400"/>
            <a:ext cx="1485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4B5563"/>
                </a:solidFill>
              </a:defRPr>
            </a:pPr>
            <a:r>
              <a:rPr sz="1050">
                <a:solidFill>
                  <a:srgbClr val="4B5563"/>
                </a:solidFill>
              </a:rPr>
              <a:t>ошибочные случаи, документы, подтверждения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9528726-A1E3-48FB-B71F-2A7907C8F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724150"/>
            <a:ext cx="1828800" cy="1790700"/>
          </a:xfrm>
          <a:prstGeom xmlns:a="http://schemas.openxmlformats.org/drawingml/2006/main" prst="roundRect">
            <a:avLst>
              <a:gd name="adj" fmla="val 1064"/>
            </a:avLst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63A08F3-DAC0-4CEA-AC9D-CDF564F3C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2952750"/>
            <a:ext cx="1485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11827"/>
                </a:solidFill>
              </a:defRPr>
            </a:pPr>
            <a:r>
              <a:rPr sz="1425" b="1">
                <a:solidFill>
                  <a:srgbClr val="111827"/>
                </a:solidFill>
              </a:rPr>
              <a:t>Неделя 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378E1DE-7B7A-4214-A732-76E40CB4D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3333750"/>
            <a:ext cx="1485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11827"/>
                </a:solidFill>
              </a:defRPr>
            </a:pPr>
            <a:r>
              <a:rPr sz="1425" b="1">
                <a:solidFill>
                  <a:srgbClr val="111827"/>
                </a:solidFill>
              </a:rPr>
              <a:t>Готовность к пилоту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4164079-86D6-4D6E-A98F-5112F8E5F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3962400"/>
            <a:ext cx="1485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4B5563"/>
                </a:solidFill>
              </a:defRPr>
            </a:pPr>
            <a:r>
              <a:rPr sz="1050">
                <a:solidFill>
                  <a:srgbClr val="4B5563"/>
                </a:solidFill>
              </a:rPr>
              <a:t>прогон, правки, решение о запуске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639B42A-CCEB-4E21-8F61-0B36BAB85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5029200"/>
            <a:ext cx="9239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B45309"/>
                </a:solidFill>
              </a:defRPr>
            </a:pPr>
            <a:r>
              <a:rPr sz="1800" b="1">
                <a:solidFill>
                  <a:srgbClr val="B45309"/>
                </a:solidFill>
              </a:rPr>
              <a:t>Критическое условие: Jira, Confluence, генерация тестов и личные списки не попадают в эти 6 недель.</a:t>
            </a:r>
          </a:p>
        </p:txBody>
      </p:sp>
    </p:spTree>
    <p:extLst>
      <p:ext uri="{BB962C8B-B14F-4D97-AF65-F5344CB8AC3E}">
        <p14:creationId xmlns:p14="http://schemas.microsoft.com/office/powerpoint/2010/main" val="13788915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D824249-69FC-4063-ADF5-02FAD48E7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0F766E"/>
                </a:solidFill>
              </a:defRPr>
            </a:pPr>
            <a:r>
              <a:rPr sz="1200" b="1">
                <a:solidFill>
                  <a:srgbClr val="0F766E"/>
                </a:solidFill>
              </a:rPr>
              <a:t>План дальше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DCE4AC-CB00-429D-9AF3-4B5FBC5B1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88582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11827"/>
                </a:solidFill>
              </a:defRPr>
            </a:pPr>
            <a:r>
              <a:rPr sz="3150" b="1">
                <a:solidFill>
                  <a:srgbClr val="111827"/>
                </a:solidFill>
              </a:rPr>
              <a:t>После первого запуска расширяем процесс слоями, только когда доказана базовая ценность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7C2ADA-C681-4A22-AA88-14EBBC9D5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solidFill>
              <a:srgbClr val="D1D5DB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4704B9-D8E8-4DB6-B35B-8DA63F087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B7280"/>
                </a:solidFill>
              </a:defRPr>
            </a:pPr>
            <a:r>
              <a:rPr sz="1125">
                <a:solidFill>
                  <a:srgbClr val="6B7280"/>
                </a:solidFill>
              </a:rPr>
              <a:t>teamSddCli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80407B-DD80-40C2-BF76-121AD37BA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2460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>
                <a:solidFill>
                  <a:srgbClr val="6B7280"/>
                </a:solidFill>
              </a:defRPr>
            </a:pPr>
            <a:r>
              <a:rPr sz="1125">
                <a:solidFill>
                  <a:srgbClr val="6B7280"/>
                </a:solidFill>
              </a:rPr>
              <a:t>08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6D3DA3-2B34-41CF-BEF1-B8544974E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781300"/>
            <a:ext cx="2000250" cy="1657350"/>
          </a:xfrm>
          <a:prstGeom xmlns:a="http://schemas.openxmlformats.org/drawingml/2006/main" prst="roundRect">
            <a:avLst>
              <a:gd name="adj" fmla="val 1149"/>
            </a:avLst>
          </a:prstGeom>
          <a:solidFill xmlns:a="http://schemas.openxmlformats.org/drawingml/2006/main">
            <a:srgbClr val="ECFEFF"/>
          </a:solidFill>
          <a:ln xmlns:a="http://schemas.openxmlformats.org/drawingml/2006/main" w="9525">
            <a:solidFill>
              <a:srgbClr val="06B6D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6FDA22-AA4F-4057-BB9A-1F154A441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067050"/>
            <a:ext cx="1581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11827"/>
                </a:solidFill>
              </a:defRPr>
            </a:pPr>
            <a:r>
              <a:rPr sz="1875" b="1">
                <a:solidFill>
                  <a:srgbClr val="111827"/>
                </a:solidFill>
              </a:rPr>
              <a:t>Публикация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582531-D6E2-4EE3-83EC-318310BAA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562350"/>
            <a:ext cx="1581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>
                <a:solidFill>
                  <a:srgbClr val="4B5563"/>
                </a:solidFill>
              </a:defRPr>
            </a:pPr>
            <a:r>
              <a:rPr sz="1200">
                <a:solidFill>
                  <a:srgbClr val="4B5563"/>
                </a:solidFill>
              </a:rPr>
              <a:t>страницы Confluence со ссылкой на источник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481D5A-EB2A-4031-B72D-9A07F2CBF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2781300"/>
            <a:ext cx="2000250" cy="1657350"/>
          </a:xfrm>
          <a:prstGeom xmlns:a="http://schemas.openxmlformats.org/drawingml/2006/main" prst="roundRect">
            <a:avLst>
              <a:gd name="adj" fmla="val 1149"/>
            </a:avLst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E0115C0-EE24-4A83-85FF-3FF81F3FB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1925" y="3067050"/>
            <a:ext cx="1581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11827"/>
                </a:solidFill>
              </a:defRPr>
            </a:pPr>
            <a:r>
              <a:rPr sz="1875" b="1">
                <a:solidFill>
                  <a:srgbClr val="111827"/>
                </a:solidFill>
              </a:rPr>
              <a:t>Планы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EE3355-BF2E-4EF1-84A1-6E335AF18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1925" y="3562350"/>
            <a:ext cx="1581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>
                <a:solidFill>
                  <a:srgbClr val="4B5563"/>
                </a:solidFill>
              </a:defRPr>
            </a:pPr>
            <a:r>
              <a:rPr sz="1200">
                <a:solidFill>
                  <a:srgbClr val="4B5563"/>
                </a:solidFill>
              </a:rPr>
              <a:t>задачи Jira из принятого изменения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7F02051-CC25-4291-B9F1-C746504B9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781300"/>
            <a:ext cx="2000250" cy="1657350"/>
          </a:xfrm>
          <a:prstGeom xmlns:a="http://schemas.openxmlformats.org/drawingml/2006/main" prst="roundRect">
            <a:avLst>
              <a:gd name="adj" fmla="val 1149"/>
            </a:avLst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2BA8CF9-AFE5-4B55-9F5B-F0B5B5EED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067050"/>
            <a:ext cx="1581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11827"/>
                </a:solidFill>
              </a:defRPr>
            </a:pPr>
            <a:r>
              <a:rPr sz="1875" b="1">
                <a:solidFill>
                  <a:srgbClr val="111827"/>
                </a:solidFill>
              </a:rPr>
              <a:t>Проверка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4E7E2C5-F134-4809-B776-DDACC713D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562350"/>
            <a:ext cx="1581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>
                <a:solidFill>
                  <a:srgbClr val="4B5563"/>
                </a:solidFill>
              </a:defRPr>
            </a:pPr>
            <a:r>
              <a:rPr sz="1200">
                <a:solidFill>
                  <a:srgbClr val="4B5563"/>
                </a:solidFill>
              </a:rPr>
              <a:t>сценарии тестов и заготовки автотестов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8688E97-020E-4F7C-9530-D5C50AA74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2781300"/>
            <a:ext cx="2000250" cy="1657350"/>
          </a:xfrm>
          <a:prstGeom xmlns:a="http://schemas.openxmlformats.org/drawingml/2006/main" prst="roundRect">
            <a:avLst>
              <a:gd name="adj" fmla="val 1149"/>
            </a:avLst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74E8C32-34E0-4E93-AF90-FB4E128FA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0675" y="3067050"/>
            <a:ext cx="1581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11827"/>
                </a:solidFill>
              </a:defRPr>
            </a:pPr>
            <a:r>
              <a:rPr sz="1875" b="1">
                <a:solidFill>
                  <a:srgbClr val="111827"/>
                </a:solidFill>
              </a:rPr>
              <a:t>Ориентация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1AC089E-00C7-4254-8246-888D77BBC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0675" y="3562350"/>
            <a:ext cx="1581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>
                <a:solidFill>
                  <a:srgbClr val="4B5563"/>
                </a:solidFill>
              </a:defRPr>
            </a:pPr>
            <a:r>
              <a:rPr sz="1200">
                <a:solidFill>
                  <a:srgbClr val="4B5563"/>
                </a:solidFill>
              </a:rPr>
              <a:t>рабочие списки, карта проекта, сверка и обновления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CB39A67-206D-45D9-BB1E-BC295B4A4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5048250"/>
            <a:ext cx="952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111827"/>
                </a:solidFill>
              </a:defRPr>
            </a:pPr>
            <a:r>
              <a:rPr sz="2025" b="1">
                <a:solidFill>
                  <a:srgbClr val="111827"/>
                </a:solidFill>
              </a:rPr>
              <a:t>Это не автономный агент. Это управляемый процесс, где люди утверждают, автоматические проверки контролируют, а ИИ ускоряет подготовку.</a:t>
            </a:r>
          </a:p>
        </p:txBody>
      </p:sp>
    </p:spTree>
    <p:extLst>
      <p:ext uri="{BB962C8B-B14F-4D97-AF65-F5344CB8AC3E}">
        <p14:creationId xmlns:p14="http://schemas.microsoft.com/office/powerpoint/2010/main" val="143311485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2026-07-06T10:25:30.1790000Z</dcterms:created>
  <dcterms:modified xsi:type="dcterms:W3CDTF">2026-07-06T10:25:30.1790000Z</dcterms:modified>
</coreProperties>
</file>